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2"/>
  </p:notesMasterIdLst>
  <p:handoutMasterIdLst>
    <p:handoutMasterId r:id="rId13"/>
  </p:handoutMasterIdLst>
  <p:sldIdLst>
    <p:sldId id="256" r:id="rId5"/>
    <p:sldId id="277" r:id="rId6"/>
    <p:sldId id="261" r:id="rId7"/>
    <p:sldId id="295" r:id="rId8"/>
    <p:sldId id="296" r:id="rId9"/>
    <p:sldId id="262" r:id="rId10"/>
    <p:sldId id="29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4609" autoAdjust="0"/>
  </p:normalViewPr>
  <p:slideViewPr>
    <p:cSldViewPr snapToGrid="0">
      <p:cViewPr varScale="1">
        <p:scale>
          <a:sx n="106" d="100"/>
          <a:sy n="106" d="100"/>
        </p:scale>
        <p:origin x="708" y="96"/>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11/1/2025</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11/1/2025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79414" y="4896566"/>
            <a:ext cx="4941771" cy="1122202"/>
          </a:xfrm>
        </p:spPr>
        <p:txBody>
          <a:bodyPr/>
          <a:lstStyle/>
          <a:p>
            <a:r>
              <a:rPr lang="en-US" dirty="0"/>
              <a:t>Financial Performance Analysis </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8" y="0"/>
            <a:ext cx="3171825" cy="1325563"/>
          </a:xfrm>
        </p:spPr>
        <p:txBody>
          <a:bodyPr/>
          <a:lstStyle/>
          <a:p>
            <a:r>
              <a:rPr lang="en-US" dirty="0"/>
              <a:t>ABOUT project</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8" y="1950252"/>
            <a:ext cx="3754550" cy="5292520"/>
          </a:xfrm>
        </p:spPr>
        <p:txBody>
          <a:bodyPr>
            <a:normAutofit/>
          </a:bodyPr>
          <a:lstStyle/>
          <a:p>
            <a:r>
              <a:rPr lang="en-US" dirty="0"/>
              <a:t>This Power BI project was undertaken to conduct a comprehensive analysis of global financial performance, transforming raw financial data into actionable strategic insights. The core objective was to dissect and understand the interplay of key financial metrics—including </a:t>
            </a:r>
            <a:r>
              <a:rPr lang="en-US" b="1" dirty="0"/>
              <a:t>Sales, Profit, Cost of Goods Sold (COGS), and Discounts</a:t>
            </a:r>
            <a:r>
              <a:rPr lang="en-US" dirty="0"/>
              <a:t>—across critical business dimensions.</a:t>
            </a:r>
          </a:p>
          <a:p>
            <a:r>
              <a:rPr lang="en-US" dirty="0"/>
              <a:t>The final deliverable is an interactive Power BI dashboard that serves as a centralized tool for stakeholders to visually explore the data, identify key drivers of success, and pinpoint areas for improvement, thereby enabling data-driven decision-making.</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521329" y="240302"/>
            <a:ext cx="4082142" cy="585788"/>
          </a:xfrm>
        </p:spPr>
        <p:txBody>
          <a:bodyPr>
            <a:normAutofit fontScale="90000"/>
          </a:bodyPr>
          <a:lstStyle/>
          <a:p>
            <a:r>
              <a:rPr lang="en-US" dirty="0"/>
              <a:t>Summary dashboard</a:t>
            </a:r>
          </a:p>
        </p:txBody>
      </p:sp>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3</a:t>
            </a:fld>
            <a:endParaRPr lang="en-US" dirty="0"/>
          </a:p>
        </p:txBody>
      </p:sp>
      <p:pic>
        <p:nvPicPr>
          <p:cNvPr id="33" name="Picture 32">
            <a:extLst>
              <a:ext uri="{FF2B5EF4-FFF2-40B4-BE49-F238E27FC236}">
                <a16:creationId xmlns:a16="http://schemas.microsoft.com/office/drawing/2014/main" id="{56CEED11-549E-D9F2-75AA-D63398C07E5D}"/>
              </a:ext>
            </a:extLst>
          </p:cNvPr>
          <p:cNvPicPr>
            <a:picLocks noChangeAspect="1"/>
          </p:cNvPicPr>
          <p:nvPr/>
        </p:nvPicPr>
        <p:blipFill>
          <a:blip r:embed="rId2"/>
          <a:stretch>
            <a:fillRect/>
          </a:stretch>
        </p:blipFill>
        <p:spPr>
          <a:xfrm>
            <a:off x="1524000" y="1219200"/>
            <a:ext cx="9144000" cy="5137150"/>
          </a:xfrm>
          <a:prstGeom prst="rect">
            <a:avLst/>
          </a:prstGeom>
        </p:spPr>
      </p:pic>
    </p:spTree>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8A9B8-A8AD-7CC9-252B-FB88CE177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48F59-D8AE-1761-1427-3A57874A5E25}"/>
              </a:ext>
            </a:extLst>
          </p:cNvPr>
          <p:cNvSpPr>
            <a:spLocks noGrp="1"/>
          </p:cNvSpPr>
          <p:nvPr>
            <p:ph type="title"/>
          </p:nvPr>
        </p:nvSpPr>
        <p:spPr>
          <a:xfrm>
            <a:off x="521329" y="240302"/>
            <a:ext cx="4082142" cy="585788"/>
          </a:xfrm>
        </p:spPr>
        <p:txBody>
          <a:bodyPr>
            <a:normAutofit fontScale="90000"/>
          </a:bodyPr>
          <a:lstStyle/>
          <a:p>
            <a:r>
              <a:rPr lang="en-US" dirty="0"/>
              <a:t>Product and segment</a:t>
            </a:r>
          </a:p>
        </p:txBody>
      </p:sp>
      <p:sp>
        <p:nvSpPr>
          <p:cNvPr id="13" name="Slide Number Placeholder 12">
            <a:extLst>
              <a:ext uri="{FF2B5EF4-FFF2-40B4-BE49-F238E27FC236}">
                <a16:creationId xmlns:a16="http://schemas.microsoft.com/office/drawing/2014/main" id="{F207FC0D-7B54-0060-ABC2-890962E3E578}"/>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4</a:t>
            </a:fld>
            <a:endParaRPr lang="en-US" dirty="0"/>
          </a:p>
        </p:txBody>
      </p:sp>
      <p:pic>
        <p:nvPicPr>
          <p:cNvPr id="4" name="Picture 3">
            <a:extLst>
              <a:ext uri="{FF2B5EF4-FFF2-40B4-BE49-F238E27FC236}">
                <a16:creationId xmlns:a16="http://schemas.microsoft.com/office/drawing/2014/main" id="{5BAEE4DB-D5A8-1756-3F84-6F2A855C3F6F}"/>
              </a:ext>
            </a:extLst>
          </p:cNvPr>
          <p:cNvPicPr>
            <a:picLocks noChangeAspect="1"/>
          </p:cNvPicPr>
          <p:nvPr/>
        </p:nvPicPr>
        <p:blipFill>
          <a:blip r:embed="rId2"/>
          <a:stretch>
            <a:fillRect/>
          </a:stretch>
        </p:blipFill>
        <p:spPr>
          <a:xfrm>
            <a:off x="1524000" y="1200487"/>
            <a:ext cx="9144000" cy="5155863"/>
          </a:xfrm>
          <a:prstGeom prst="rect">
            <a:avLst/>
          </a:prstGeom>
        </p:spPr>
      </p:pic>
    </p:spTree>
    <p:extLst>
      <p:ext uri="{BB962C8B-B14F-4D97-AF65-F5344CB8AC3E}">
        <p14:creationId xmlns:p14="http://schemas.microsoft.com/office/powerpoint/2010/main" val="408875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18E77-6B74-AD70-0A2C-B4D4F3A35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31279-8CF4-FDAF-E761-F820FF470C6C}"/>
              </a:ext>
            </a:extLst>
          </p:cNvPr>
          <p:cNvSpPr>
            <a:spLocks noGrp="1"/>
          </p:cNvSpPr>
          <p:nvPr>
            <p:ph type="title"/>
          </p:nvPr>
        </p:nvSpPr>
        <p:spPr>
          <a:xfrm>
            <a:off x="521329" y="240302"/>
            <a:ext cx="5825150" cy="585788"/>
          </a:xfrm>
        </p:spPr>
        <p:txBody>
          <a:bodyPr>
            <a:normAutofit/>
          </a:bodyPr>
          <a:lstStyle/>
          <a:p>
            <a:r>
              <a:rPr lang="en-US" sz="2500" dirty="0"/>
              <a:t>Averages(discount analysis)</a:t>
            </a:r>
          </a:p>
        </p:txBody>
      </p:sp>
      <p:sp>
        <p:nvSpPr>
          <p:cNvPr id="13" name="Slide Number Placeholder 12">
            <a:extLst>
              <a:ext uri="{FF2B5EF4-FFF2-40B4-BE49-F238E27FC236}">
                <a16:creationId xmlns:a16="http://schemas.microsoft.com/office/drawing/2014/main" id="{05D6BCEB-E43A-58D9-3962-1B1616981B55}"/>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5</a:t>
            </a:fld>
            <a:endParaRPr lang="en-US" dirty="0"/>
          </a:p>
        </p:txBody>
      </p:sp>
      <p:pic>
        <p:nvPicPr>
          <p:cNvPr id="4" name="Picture 3">
            <a:extLst>
              <a:ext uri="{FF2B5EF4-FFF2-40B4-BE49-F238E27FC236}">
                <a16:creationId xmlns:a16="http://schemas.microsoft.com/office/drawing/2014/main" id="{1252E49B-F600-EDDA-586E-F48867433046}"/>
              </a:ext>
            </a:extLst>
          </p:cNvPr>
          <p:cNvPicPr>
            <a:picLocks noChangeAspect="1"/>
          </p:cNvPicPr>
          <p:nvPr/>
        </p:nvPicPr>
        <p:blipFill>
          <a:blip r:embed="rId2"/>
          <a:stretch>
            <a:fillRect/>
          </a:stretch>
        </p:blipFill>
        <p:spPr>
          <a:xfrm>
            <a:off x="1524000" y="1181839"/>
            <a:ext cx="9144000" cy="5174511"/>
          </a:xfrm>
          <a:prstGeom prst="rect">
            <a:avLst/>
          </a:prstGeom>
        </p:spPr>
      </p:pic>
    </p:spTree>
    <p:extLst>
      <p:ext uri="{BB962C8B-B14F-4D97-AF65-F5344CB8AC3E}">
        <p14:creationId xmlns:p14="http://schemas.microsoft.com/office/powerpoint/2010/main" val="415741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6655" y="412140"/>
            <a:ext cx="4031945" cy="365125"/>
          </a:xfrm>
        </p:spPr>
        <p:txBody>
          <a:bodyPr vert="horz" lIns="91440" tIns="45720" rIns="91440" bIns="45720" rtlCol="0" anchor="t">
            <a:normAutofit lnSpcReduction="10000"/>
          </a:bodyPr>
          <a:lstStyle/>
          <a:p>
            <a:pPr algn="l"/>
            <a:r>
              <a:rPr lang="en-US" b="1" dirty="0"/>
              <a:t>Executive Summary:</a:t>
            </a:r>
            <a:endParaRPr lang="en-US" dirty="0"/>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194284" y="806815"/>
            <a:ext cx="10180987" cy="1057308"/>
          </a:xfrm>
        </p:spPr>
        <p:txBody>
          <a:bodyPr/>
          <a:lstStyle/>
          <a:p>
            <a:pPr algn="l"/>
            <a:r>
              <a:rPr lang="en-US" b="1" dirty="0"/>
              <a:t>Features:</a:t>
            </a:r>
            <a:r>
              <a:rPr lang="en-US" dirty="0"/>
              <a:t> KPI cards (Sales, Profit, Margin), Sales Trend vs. Forecast, YoY Growth Analysis, Geographic Performance Map.</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6</a:t>
            </a:fld>
            <a:endParaRPr lang="en-US" dirty="0"/>
          </a:p>
        </p:txBody>
      </p:sp>
      <p:sp>
        <p:nvSpPr>
          <p:cNvPr id="16" name="Text Placeholder 3">
            <a:extLst>
              <a:ext uri="{FF2B5EF4-FFF2-40B4-BE49-F238E27FC236}">
                <a16:creationId xmlns:a16="http://schemas.microsoft.com/office/drawing/2014/main" id="{5EFE28BB-B0DC-67F5-FE54-7CB322EF0E6C}"/>
              </a:ext>
            </a:extLst>
          </p:cNvPr>
          <p:cNvSpPr txBox="1">
            <a:spLocks/>
          </p:cNvSpPr>
          <p:nvPr/>
        </p:nvSpPr>
        <p:spPr>
          <a:xfrm>
            <a:off x="426948" y="1197266"/>
            <a:ext cx="10180987" cy="1057308"/>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Arial" panose="020B0604020202020204" pitchFamily="34" charset="0"/>
              <a:buChar char="•"/>
            </a:pPr>
            <a:r>
              <a:rPr lang="en-US" dirty="0"/>
              <a:t> We use high-impact KPI cards for instant performance recognition, trend lines to visualize progress over time, and geographic maps for intuitive regional analysis.</a:t>
            </a:r>
          </a:p>
          <a:p>
            <a:pPr marL="285750" indent="-285750" algn="l">
              <a:buFont typeface="Arial" panose="020B0604020202020204" pitchFamily="34" charset="0"/>
              <a:buChar char="•"/>
            </a:pPr>
            <a:r>
              <a:rPr lang="en-US" dirty="0"/>
              <a:t>This page instantly reveals if the company is hitting its financial targets, identifies growth patterns and seasonal trends, and pinpoints high-performing regions that are driving results, enabling swift strategic direction.</a:t>
            </a:r>
            <a:br>
              <a:rPr lang="en-US" dirty="0"/>
            </a:br>
            <a:endParaRPr lang="en-US" dirty="0"/>
          </a:p>
        </p:txBody>
      </p:sp>
      <p:sp>
        <p:nvSpPr>
          <p:cNvPr id="29" name="Content Placeholder 2">
            <a:extLst>
              <a:ext uri="{FF2B5EF4-FFF2-40B4-BE49-F238E27FC236}">
                <a16:creationId xmlns:a16="http://schemas.microsoft.com/office/drawing/2014/main" id="{67E25B4C-0FBE-BF6D-CA0C-2E6AC15F975D}"/>
              </a:ext>
            </a:extLst>
          </p:cNvPr>
          <p:cNvSpPr txBox="1">
            <a:spLocks/>
          </p:cNvSpPr>
          <p:nvPr/>
        </p:nvSpPr>
        <p:spPr>
          <a:xfrm>
            <a:off x="6655" y="2479350"/>
            <a:ext cx="4031945" cy="365125"/>
          </a:xfrm>
          <a:prstGeom prst="rect">
            <a:avLst/>
          </a:prstGeom>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lumMod val="75000"/>
                    <a:lumOff val="25000"/>
                  </a:schemeClr>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b="1" dirty="0"/>
              <a:t>Product &amp; Segment Analysis:</a:t>
            </a:r>
          </a:p>
        </p:txBody>
      </p:sp>
      <p:sp>
        <p:nvSpPr>
          <p:cNvPr id="30" name="Text Placeholder 3">
            <a:extLst>
              <a:ext uri="{FF2B5EF4-FFF2-40B4-BE49-F238E27FC236}">
                <a16:creationId xmlns:a16="http://schemas.microsoft.com/office/drawing/2014/main" id="{0D9AAB63-1A02-FECA-1E2C-5C9E90A9B6B2}"/>
              </a:ext>
            </a:extLst>
          </p:cNvPr>
          <p:cNvSpPr txBox="1">
            <a:spLocks/>
          </p:cNvSpPr>
          <p:nvPr/>
        </p:nvSpPr>
        <p:spPr>
          <a:xfrm>
            <a:off x="194284" y="2900346"/>
            <a:ext cx="10180987"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b="1" dirty="0"/>
              <a:t>Features:</a:t>
            </a:r>
            <a:r>
              <a:rPr lang="en-US" dirty="0"/>
              <a:t> Product Profitability </a:t>
            </a:r>
            <a:r>
              <a:rPr lang="en-US" dirty="0" err="1"/>
              <a:t>Treemap</a:t>
            </a:r>
            <a:r>
              <a:rPr lang="en-US" dirty="0"/>
              <a:t>, Segment Sales Breakdown, Detailed Performance Matrix.</a:t>
            </a:r>
          </a:p>
        </p:txBody>
      </p:sp>
      <p:sp>
        <p:nvSpPr>
          <p:cNvPr id="31" name="Text Placeholder 3">
            <a:extLst>
              <a:ext uri="{FF2B5EF4-FFF2-40B4-BE49-F238E27FC236}">
                <a16:creationId xmlns:a16="http://schemas.microsoft.com/office/drawing/2014/main" id="{CC86D4FD-17B8-7D90-CFC2-C4188A7D8238}"/>
              </a:ext>
            </a:extLst>
          </p:cNvPr>
          <p:cNvSpPr txBox="1">
            <a:spLocks/>
          </p:cNvSpPr>
          <p:nvPr/>
        </p:nvSpPr>
        <p:spPr>
          <a:xfrm>
            <a:off x="426948" y="3377304"/>
            <a:ext cx="10180987" cy="1057308"/>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Arial" panose="020B0604020202020204" pitchFamily="34" charset="0"/>
              <a:buChar char="•"/>
            </a:pPr>
            <a:r>
              <a:rPr lang="en-US" dirty="0" err="1"/>
              <a:t>Treemaps</a:t>
            </a:r>
            <a:r>
              <a:rPr lang="en-US" dirty="0"/>
              <a:t> and pie charts efficiently show part-to-whole relationships and market share, while the detailed matrix provides the granular data needed for root-cause analysis.</a:t>
            </a:r>
          </a:p>
          <a:p>
            <a:pPr marL="285750" indent="-285750" algn="l">
              <a:buFont typeface="Arial" panose="020B0604020202020204" pitchFamily="34" charset="0"/>
              <a:buChar char="•"/>
            </a:pPr>
            <a:r>
              <a:rPr lang="en-US" dirty="0"/>
              <a:t>This page identifies star products and underperformers in our portfolio, reveals which customer segments are most valuable, and uncovers specific opportunities, such as a high-selling but low-margin product in a key segment.</a:t>
            </a:r>
            <a:br>
              <a:rPr lang="en-US" dirty="0"/>
            </a:br>
            <a:endParaRPr lang="en-US" dirty="0"/>
          </a:p>
        </p:txBody>
      </p:sp>
      <p:sp>
        <p:nvSpPr>
          <p:cNvPr id="32" name="Content Placeholder 2">
            <a:extLst>
              <a:ext uri="{FF2B5EF4-FFF2-40B4-BE49-F238E27FC236}">
                <a16:creationId xmlns:a16="http://schemas.microsoft.com/office/drawing/2014/main" id="{1E97C4D9-C967-5827-F0E7-3D35762DC848}"/>
              </a:ext>
            </a:extLst>
          </p:cNvPr>
          <p:cNvSpPr txBox="1">
            <a:spLocks/>
          </p:cNvSpPr>
          <p:nvPr/>
        </p:nvSpPr>
        <p:spPr>
          <a:xfrm>
            <a:off x="0" y="4582657"/>
            <a:ext cx="4031945" cy="365125"/>
          </a:xfrm>
          <a:prstGeom prst="rect">
            <a:avLst/>
          </a:prstGeom>
        </p:spPr>
        <p:txBody>
          <a:bodyPr vert="horz" lIns="91440" tIns="45720" rIns="91440" bIns="45720" rtlCol="0" anchor="t">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lumMod val="75000"/>
                    <a:lumOff val="25000"/>
                  </a:schemeClr>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b="1" dirty="0"/>
              <a:t>AVERAGES(DISCOUNT ANALYSIS):</a:t>
            </a:r>
          </a:p>
        </p:txBody>
      </p:sp>
      <p:sp>
        <p:nvSpPr>
          <p:cNvPr id="33" name="Text Placeholder 3">
            <a:extLst>
              <a:ext uri="{FF2B5EF4-FFF2-40B4-BE49-F238E27FC236}">
                <a16:creationId xmlns:a16="http://schemas.microsoft.com/office/drawing/2014/main" id="{ED6DD416-7C53-A132-70B3-86A0F68A92B0}"/>
              </a:ext>
            </a:extLst>
          </p:cNvPr>
          <p:cNvSpPr txBox="1">
            <a:spLocks/>
          </p:cNvSpPr>
          <p:nvPr/>
        </p:nvSpPr>
        <p:spPr>
          <a:xfrm>
            <a:off x="194283" y="4993877"/>
            <a:ext cx="10180987" cy="1057308"/>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b="1" dirty="0"/>
              <a:t>Features:</a:t>
            </a:r>
            <a:r>
              <a:rPr lang="en-US" dirty="0"/>
              <a:t> Discount vs. Profitability Scatter Plot, Discount Adoption by Segment, Impact of Discounts on Unit Economics.</a:t>
            </a:r>
          </a:p>
        </p:txBody>
      </p:sp>
      <p:sp>
        <p:nvSpPr>
          <p:cNvPr id="34" name="Text Placeholder 3">
            <a:extLst>
              <a:ext uri="{FF2B5EF4-FFF2-40B4-BE49-F238E27FC236}">
                <a16:creationId xmlns:a16="http://schemas.microsoft.com/office/drawing/2014/main" id="{79C79AB6-41A7-E9CB-60AC-E27944FC5365}"/>
              </a:ext>
            </a:extLst>
          </p:cNvPr>
          <p:cNvSpPr txBox="1">
            <a:spLocks/>
          </p:cNvSpPr>
          <p:nvPr/>
        </p:nvSpPr>
        <p:spPr>
          <a:xfrm>
            <a:off x="426948" y="5399209"/>
            <a:ext cx="10180987" cy="1057308"/>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Arial" panose="020B0604020202020204" pitchFamily="34" charset="0"/>
              <a:buChar char="•"/>
            </a:pPr>
            <a:r>
              <a:rPr lang="en-US" dirty="0"/>
              <a:t>The scatter plot is critical for revealing the correlation between discount levels and profitability, while the composition charts show how discounts are allocated.</a:t>
            </a:r>
          </a:p>
          <a:p>
            <a:pPr marL="285750" indent="-285750" algn="l">
              <a:buFont typeface="Arial" panose="020B0604020202020204" pitchFamily="34" charset="0"/>
              <a:buChar char="•"/>
            </a:pPr>
            <a:r>
              <a:rPr lang="en-US" dirty="0"/>
              <a:t>This page directly identifies whether discount strategies are generating profitable growth or eroding margins, highlights which customer segments receive the deepest discounts, and informs a more data-driven and profitable commercial policy.</a:t>
            </a:r>
          </a:p>
          <a:p>
            <a:br>
              <a:rPr lang="en-US" dirty="0"/>
            </a:br>
            <a:br>
              <a:rPr lang="en-US" dirty="0"/>
            </a:br>
            <a:endParaRPr lang="en-US" dirty="0"/>
          </a:p>
        </p:txBody>
      </p:sp>
    </p:spTree>
    <p:extLst>
      <p:ext uri="{BB962C8B-B14F-4D97-AF65-F5344CB8AC3E}">
        <p14:creationId xmlns:p14="http://schemas.microsoft.com/office/powerpoint/2010/main" val="1593920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2809743" cy="1325563"/>
          </a:xfrm>
        </p:spPr>
        <p:txBody>
          <a:bodyPr/>
          <a:lstStyle/>
          <a:p>
            <a:r>
              <a:rPr lang="en-US" dirty="0"/>
              <a:t>Project OVERVIEW</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19680" y="584462"/>
            <a:ext cx="5433204" cy="365125"/>
          </a:xfrm>
        </p:spPr>
        <p:txBody>
          <a:bodyPr vert="horz" lIns="91440" tIns="45720" rIns="91440" bIns="45720" rtlCol="0" anchor="t">
            <a:normAutofit lnSpcReduction="10000"/>
          </a:bodyPr>
          <a:lstStyle/>
          <a:p>
            <a:r>
              <a:rPr lang="en-US" b="1" dirty="0"/>
              <a:t>Overview:</a:t>
            </a:r>
            <a:endParaRPr lang="en-US" dirty="0"/>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7</a:t>
            </a:fld>
            <a:endParaRPr lang="en-US" dirty="0"/>
          </a:p>
        </p:txBody>
      </p:sp>
      <p:sp>
        <p:nvSpPr>
          <p:cNvPr id="27" name="Text Placeholder 26">
            <a:extLst>
              <a:ext uri="{FF2B5EF4-FFF2-40B4-BE49-F238E27FC236}">
                <a16:creationId xmlns:a16="http://schemas.microsoft.com/office/drawing/2014/main" id="{CDF1A59C-C08E-1203-FFEF-3FBB012BBA06}"/>
              </a:ext>
            </a:extLst>
          </p:cNvPr>
          <p:cNvSpPr>
            <a:spLocks noGrp="1"/>
          </p:cNvSpPr>
          <p:nvPr>
            <p:ph type="body" sz="quarter" idx="28"/>
          </p:nvPr>
        </p:nvSpPr>
        <p:spPr>
          <a:xfrm>
            <a:off x="5919680" y="949587"/>
            <a:ext cx="5694468" cy="1875094"/>
          </a:xfrm>
        </p:spPr>
        <p:txBody>
          <a:bodyPr>
            <a:normAutofit/>
          </a:bodyPr>
          <a:lstStyle/>
          <a:p>
            <a:r>
              <a:rPr lang="en-US" dirty="0"/>
              <a:t>This Power BI dashboard delivers a comprehensive analysis of India's electric vehicle (EV) market, serving as an interactive platform for strategic planning. The dashboard enables stakeholders to identify key opportunities, optimize resource allocation, and track the evolution of the EV ecosystem from 2014 to 2024.</a:t>
            </a:r>
          </a:p>
        </p:txBody>
      </p:sp>
      <p:sp>
        <p:nvSpPr>
          <p:cNvPr id="28" name="Content Placeholder 2">
            <a:extLst>
              <a:ext uri="{FF2B5EF4-FFF2-40B4-BE49-F238E27FC236}">
                <a16:creationId xmlns:a16="http://schemas.microsoft.com/office/drawing/2014/main" id="{31D469EF-2F0B-F2AD-C9E1-6DDF4969C362}"/>
              </a:ext>
            </a:extLst>
          </p:cNvPr>
          <p:cNvSpPr txBox="1">
            <a:spLocks/>
          </p:cNvSpPr>
          <p:nvPr/>
        </p:nvSpPr>
        <p:spPr>
          <a:xfrm>
            <a:off x="5919680" y="2459556"/>
            <a:ext cx="5433204" cy="365125"/>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lumMod val="75000"/>
                    <a:lumOff val="25000"/>
                  </a:schemeClr>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Key Insights from the Data:</a:t>
            </a:r>
            <a:endParaRPr lang="en-US" dirty="0"/>
          </a:p>
        </p:txBody>
      </p:sp>
      <p:sp>
        <p:nvSpPr>
          <p:cNvPr id="29" name="Text Placeholder 26">
            <a:extLst>
              <a:ext uri="{FF2B5EF4-FFF2-40B4-BE49-F238E27FC236}">
                <a16:creationId xmlns:a16="http://schemas.microsoft.com/office/drawing/2014/main" id="{889E6A7A-D311-8E49-CBAB-3A2830E4A6F9}"/>
              </a:ext>
            </a:extLst>
          </p:cNvPr>
          <p:cNvSpPr txBox="1">
            <a:spLocks/>
          </p:cNvSpPr>
          <p:nvPr/>
        </p:nvSpPr>
        <p:spPr>
          <a:xfrm>
            <a:off x="5919680" y="2944092"/>
            <a:ext cx="5694468" cy="377738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Market Leadership: </a:t>
            </a:r>
            <a:r>
              <a:rPr lang="en-US" dirty="0"/>
              <a:t>A clear market was observed where states dominated EV adoption. Uttar Pradesh, Maharashtra, and Karnataka emerged as leaders, accounting for the majority of national EV sales.</a:t>
            </a:r>
          </a:p>
          <a:p>
            <a:r>
              <a:rPr lang="en-US" b="1" dirty="0"/>
              <a:t>Category Performance Analysis: </a:t>
            </a:r>
            <a:r>
              <a:rPr lang="en-US" dirty="0"/>
              <a:t>The 2-wheeler and 3-wheeler categories dominated market share, significantly outperforming other vehicle segments and establishing themselves as the primary growth engines of the EV revolution.</a:t>
            </a:r>
          </a:p>
          <a:p>
            <a:r>
              <a:rPr lang="en-US" b="1" dirty="0"/>
              <a:t>Growth Pattern Identification: </a:t>
            </a:r>
            <a:r>
              <a:rPr lang="en-US" dirty="0"/>
              <a:t>Strong year-over-year growth was evident across most vehicle categories, with particular momentum in the 2-wheeler and 3-wheeler segments.</a:t>
            </a:r>
          </a:p>
          <a:p>
            <a:r>
              <a:rPr lang="en-US" b="1" dirty="0"/>
              <a:t>Strategic Categorization: </a:t>
            </a:r>
            <a:r>
              <a:rPr lang="en-US" dirty="0"/>
              <a:t>Vehicle classes were successfully classified by market share and growth potential, clearly distinguishing high-volume categories (M-Cycle/Scooter, E-Rickshaw) from emerging niche segments (Commercial Vehicles, Agricultural Trailers) for targeted strategy development.</a:t>
            </a:r>
          </a:p>
        </p:txBody>
      </p:sp>
    </p:spTree>
    <p:extLst>
      <p:ext uri="{BB962C8B-B14F-4D97-AF65-F5344CB8AC3E}">
        <p14:creationId xmlns:p14="http://schemas.microsoft.com/office/powerpoint/2010/main" val="3979386315"/>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2.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151</TotalTime>
  <Words>572</Words>
  <Application>Microsoft Office PowerPoint</Application>
  <PresentationFormat>Widescreen</PresentationFormat>
  <Paragraphs>34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Tenorite</vt:lpstr>
      <vt:lpstr>Monoline</vt:lpstr>
      <vt:lpstr>Financial Performance Analysis </vt:lpstr>
      <vt:lpstr>ABOUT project</vt:lpstr>
      <vt:lpstr>Summary dashboard</vt:lpstr>
      <vt:lpstr>Product and segment</vt:lpstr>
      <vt:lpstr>Averages(discount analysis)</vt:lpstr>
      <vt:lpstr>PowerPoint Presentation</vt:lpstr>
      <vt:lpstr>Project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prem dharmik</dc:creator>
  <cp:lastModifiedBy>prem dharmik</cp:lastModifiedBy>
  <cp:revision>39</cp:revision>
  <dcterms:created xsi:type="dcterms:W3CDTF">2025-11-01T10:50:54Z</dcterms:created>
  <dcterms:modified xsi:type="dcterms:W3CDTF">2025-11-01T14:25:31Z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